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HashInsight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39C12"/>
                </a:solidFill>
              </a:defRPr>
            </a:pPr>
            <a:r>
              <a:t>Professional Bitcoin Mining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Target Users</a:t>
            </a:r>
          </a:p>
          <a:p>
            <a:pPr>
              <a:spcBef>
                <a:spcPts val="600"/>
              </a:spcBef>
              <a:defRPr sz="1600"/>
            </a:pPr>
            <a:r>
              <a:t>  Mining farm operators, hosting providers, large-scale miners, institutional investors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Core Value Proposition</a:t>
            </a:r>
          </a:p>
          <a:p>
            <a:pPr>
              <a:spcBef>
                <a:spcPts val="600"/>
              </a:spcBef>
              <a:defRPr sz="1600"/>
            </a:pPr>
            <a:r>
              <a:t>  Data-driven mining decisions</a:t>
            </a:r>
          </a:p>
          <a:p>
            <a:pPr>
              <a:spcBef>
                <a:spcPts val="600"/>
              </a:spcBef>
              <a:defRPr sz="1600"/>
            </a:pPr>
            <a:r>
              <a:t>  Professional-grade financial management</a:t>
            </a:r>
          </a:p>
          <a:p>
            <a:pPr>
              <a:spcBef>
                <a:spcPts val="600"/>
              </a:spcBef>
              <a:defRPr sz="1600"/>
            </a:pPr>
            <a:r>
              <a:t>  Transparent customer service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Technical Guarantees</a:t>
            </a:r>
          </a:p>
          <a:p>
            <a:pPr>
              <a:spcBef>
                <a:spcPts val="600"/>
              </a:spcBef>
              <a:defRPr sz="1600"/>
            </a:pPr>
            <a:r>
              <a:t>  Enterprise-grade security, 99.95% SLA, 9.8x performance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5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1. Intelligent Mining Calculator</a:t>
            </a:r>
          </a:p>
          <a:p>
            <a:pPr>
              <a:spcBef>
                <a:spcPts val="600"/>
              </a:spcBef>
              <a:defRPr sz="1600"/>
            </a:pPr>
            <a:r>
              <a:t>   • Supports 17+ miner models, dual-algorithm validation</a:t>
            </a:r>
          </a:p>
          <a:p>
            <a:pPr>
              <a:spcBef>
                <a:spcPts val="600"/>
              </a:spcBef>
              <a:defRPr sz="1600"/>
            </a:pPr>
            <a:r>
              <a:t>   • Batch processing 5000+ miners, power curtailment analysis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2. Professional Technical Analysis Platform</a:t>
            </a:r>
          </a:p>
          <a:p>
            <a:pPr>
              <a:spcBef>
                <a:spcPts val="600"/>
              </a:spcBef>
              <a:defRPr sz="1600"/>
            </a:pPr>
            <a:r>
              <a:t>   • 10 signal modules: RSI/MACD/Bollinger Bands</a:t>
            </a:r>
          </a:p>
          <a:p>
            <a:pPr>
              <a:spcBef>
                <a:spcPts val="600"/>
              </a:spcBef>
              <a:defRPr sz="1600"/>
            </a:pPr>
            <a:r>
              <a:t>   • Intelligent market sentiment scoring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3. Treasury Management</a:t>
            </a:r>
          </a:p>
          <a:p>
            <a:pPr>
              <a:spcBef>
                <a:spcPts val="600"/>
              </a:spcBef>
              <a:defRPr sz="1600"/>
            </a:pPr>
            <a:r>
              <a:t>   • BTC inventory tracking, selling strategy templates</a:t>
            </a:r>
          </a:p>
          <a:p>
            <a:pPr>
              <a:spcBef>
                <a:spcPts val="600"/>
              </a:spcBef>
              <a:defRPr sz="1600"/>
            </a:pPr>
            <a:r>
              <a:t>   • Order execution optimization, backtesting engine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4. CRM Customer Management</a:t>
            </a:r>
          </a:p>
          <a:p>
            <a:pPr>
              <a:spcBef>
                <a:spcPts val="600"/>
              </a:spcBef>
              <a:defRPr sz="1600"/>
            </a:pPr>
            <a:r>
              <a:t>   • Customer lifecycle management, automated commission calculation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5. Enterprise-Grade Security</a:t>
            </a:r>
          </a:p>
          <a:p>
            <a:pPr>
              <a:spcBef>
                <a:spcPts val="600"/>
              </a:spcBef>
              <a:defRPr sz="1600"/>
            </a:pPr>
            <a:r>
              <a:t>   • KMS encryption, mTLS authentication, SOC 2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Technical 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SLA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≥99.95%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Error budget ≤21.6 min/month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API Latency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p95 ≤250ms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Fast response guarantee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Error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≤0.1%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 reliability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Performance Boost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Request Coalescing optimization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Batch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5000+ miners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Concurrent computation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6 Product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1. Industry's Only Dual-Algorithm Validation System</a:t>
            </a:r>
          </a:p>
          <a:p>
            <a:pPr>
              <a:spcBef>
                <a:spcPts val="600"/>
              </a:spcBef>
              <a:defRPr sz="1600"/>
            </a:pPr>
            <a:r>
              <a:t>   Ensures calculation accuracy, avoids investment errors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2. 9.8x Performance Boost with Request Coalescing</a:t>
            </a:r>
          </a:p>
          <a:p>
            <a:pPr>
              <a:spcBef>
                <a:spcPts val="600"/>
              </a:spcBef>
              <a:defRPr sz="1600"/>
            </a:pPr>
            <a:r>
              <a:t>   Industry-leading concurrent request merging technology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3. Professional-Grade Treasury Management</a:t>
            </a:r>
          </a:p>
          <a:p>
            <a:pPr>
              <a:spcBef>
                <a:spcPts val="600"/>
              </a:spcBef>
              <a:defRPr sz="1600"/>
            </a:pPr>
            <a:r>
              <a:t>   Institutional investor-level BTC inventory management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4. 10 Intelligent Signal Aggregation Modules</a:t>
            </a:r>
          </a:p>
          <a:p>
            <a:pPr>
              <a:spcBef>
                <a:spcPts val="600"/>
              </a:spcBef>
              <a:defRPr sz="1600"/>
            </a:pPr>
            <a:r>
              <a:t>   Integrates technical analysis, on-chain data, derivatives markets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5. Enterprise-Grade Security &amp; Compliance</a:t>
            </a:r>
          </a:p>
          <a:p>
            <a:pPr>
              <a:spcBef>
                <a:spcPts val="600"/>
              </a:spcBef>
              <a:defRPr sz="1600"/>
            </a:pPr>
            <a:r>
              <a:t>   KMS encryption, mTLS authentication, SOC 2 ready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6. Complete Page Isolation Architecture</a:t>
            </a:r>
          </a:p>
          <a:p>
            <a:pPr>
              <a:spcBef>
                <a:spcPts val="600"/>
              </a:spcBef>
              <a:defRPr sz="1600"/>
            </a:pPr>
            <a:r>
              <a:t>   Modular design, flexible scaling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Typical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Large Mining Farms</a:t>
            </a:r>
          </a:p>
          <a:p>
            <a:pPr>
              <a:spcBef>
                <a:spcPts val="600"/>
              </a:spcBef>
              <a:defRPr sz="1600"/>
            </a:pPr>
            <a:r>
              <a:t>   • Managing thousands of miners, real-time revenue monitoring</a:t>
            </a:r>
          </a:p>
          <a:p>
            <a:pPr>
              <a:spcBef>
                <a:spcPts val="600"/>
              </a:spcBef>
              <a:defRPr sz="1600"/>
            </a:pPr>
            <a:r>
              <a:t>   • Value: 10x calculation efficiency, 15-20% power cost savings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Hosting Providers</a:t>
            </a:r>
          </a:p>
          <a:p>
            <a:pPr>
              <a:spcBef>
                <a:spcPts val="600"/>
              </a:spcBef>
              <a:defRPr sz="1600"/>
            </a:pPr>
            <a:r>
              <a:t>   • Transparent pricing, real-time revenue tracking, professional reports</a:t>
            </a:r>
          </a:p>
          <a:p>
            <a:pPr>
              <a:spcBef>
                <a:spcPts val="600"/>
              </a:spcBef>
              <a:defRPr sz="1600"/>
            </a:pPr>
            <a:r>
              <a:t>   • Value: 40% increase in customer trust, standardized services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Institutional Investors</a:t>
            </a:r>
          </a:p>
          <a:p>
            <a:pPr>
              <a:spcBef>
                <a:spcPts val="600"/>
              </a:spcBef>
              <a:defRPr sz="1600"/>
            </a:pPr>
            <a:r>
              <a:t>   • ROI evaluation, BTC inventory management, optimized selling strategies</a:t>
            </a:r>
          </a:p>
          <a:p>
            <a:pPr>
              <a:spcBef>
                <a:spcPts val="600"/>
              </a:spcBef>
              <a:defRPr sz="1600"/>
            </a:pPr>
            <a:r>
              <a:t>   • Value: Data-driven decisions, 10-15% improved selling timing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Customer Success Stories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Case 1: 100MW Mining Farm</a:t>
            </a:r>
          </a:p>
          <a:p>
            <a:pPr>
              <a:spcBef>
                <a:spcPts val="600"/>
              </a:spcBef>
              <a:defRPr sz="1600"/>
            </a:pPr>
            <a:r>
              <a:t>   • Managing 15,000+ miners</a:t>
            </a:r>
          </a:p>
          <a:p>
            <a:pPr>
              <a:spcBef>
                <a:spcPts val="600"/>
              </a:spcBef>
              <a:defRPr sz="1600"/>
            </a:pPr>
            <a:r>
              <a:t>   • Results: Revenue calculation from 2 hours to 5 minutes</a:t>
            </a:r>
          </a:p>
          <a:p>
            <a:pPr>
              <a:spcBef>
                <a:spcPts val="600"/>
              </a:spcBef>
              <a:defRPr sz="1600"/>
            </a:pPr>
            <a:r>
              <a:t>             Annual power cost savings of $1.8M</a:t>
            </a:r>
          </a:p>
          <a:p>
            <a:pPr>
              <a:spcBef>
                <a:spcPts val="600"/>
              </a:spcBef>
              <a:defRPr sz="1600"/>
            </a:pPr>
            <a:r>
              <a:t>             70% reduction in customer complaints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Case 2: Hosting Service Provider</a:t>
            </a:r>
          </a:p>
          <a:p>
            <a:pPr>
              <a:spcBef>
                <a:spcPts val="600"/>
              </a:spcBef>
              <a:defRPr sz="1600"/>
            </a:pPr>
            <a:r>
              <a:t>   • Providing hosting for 300+ clients</a:t>
            </a:r>
          </a:p>
          <a:p>
            <a:pPr>
              <a:spcBef>
                <a:spcPts val="600"/>
              </a:spcBef>
              <a:defRPr sz="1600"/>
            </a:pPr>
            <a:r>
              <a:t>   • Results: 60% reduction in customer management costs</a:t>
            </a:r>
          </a:p>
          <a:p>
            <a:pPr>
              <a:spcBef>
                <a:spcPts val="600"/>
              </a:spcBef>
              <a:defRPr sz="1600"/>
            </a:pPr>
            <a:r>
              <a:t>             35% increase in new customer conversion</a:t>
            </a:r>
          </a:p>
          <a:p>
            <a:pPr>
              <a:spcBef>
                <a:spcPts val="600"/>
              </a:spcBef>
              <a:defRPr sz="1600"/>
            </a:pPr>
            <a:r>
              <a:t>             $500K/year additional service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Flexible Subscription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Individual miners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Basic calculator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$199/mo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Small-medium farms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Batch calc, analytics, CRM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$999/mo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Large institutions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Full features, Treasury, priority support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 quote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Ultra-large scale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Private deployment, dedicated servers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Contact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/>
            </a:pPr>
            <a:r>
              <a:t>Business Inquiries</a:t>
            </a:r>
          </a:p>
          <a:p>
            <a:pPr>
              <a:spcBef>
                <a:spcPts val="600"/>
              </a:spcBef>
              <a:defRPr sz="1600"/>
            </a:pPr>
            <a:r>
              <a:t>   sales@hashinsight.io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Technical Support</a:t>
            </a:r>
          </a:p>
          <a:p>
            <a:pPr>
              <a:spcBef>
                <a:spcPts val="600"/>
              </a:spcBef>
              <a:defRPr sz="1600"/>
            </a:pPr>
            <a:r>
              <a:t>   support@hashinsight.io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Official Website</a:t>
            </a:r>
          </a:p>
          <a:p>
            <a:pPr>
              <a:spcBef>
                <a:spcPts val="600"/>
              </a:spcBef>
              <a:defRPr sz="1600"/>
            </a:pPr>
            <a:r>
              <a:t>   https://hashinsight.io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Enterprise Support</a:t>
            </a:r>
          </a:p>
          <a:p>
            <a:pPr>
              <a:spcBef>
                <a:spcPts val="600"/>
              </a:spcBef>
              <a:defRPr sz="1600"/>
            </a:pPr>
            <a:r>
              <a:t>   • 24/7 technical support hotline</a:t>
            </a:r>
          </a:p>
          <a:p>
            <a:pPr>
              <a:spcBef>
                <a:spcPts val="600"/>
              </a:spcBef>
              <a:defRPr sz="1600"/>
            </a:pPr>
            <a:r>
              <a:t>   • 1-hour response SLA</a:t>
            </a:r>
          </a:p>
          <a:p>
            <a:pPr>
              <a:spcBef>
                <a:spcPts val="600"/>
              </a:spcBef>
              <a:defRPr sz="1600"/>
            </a:pPr>
            <a:r>
              <a:t>   • Dedicated customer success manager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