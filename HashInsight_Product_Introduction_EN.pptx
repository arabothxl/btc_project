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</a:defRPr>
            </a:pPr>
            <a:r>
              <a:t>HashInsight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39C12"/>
                </a:solidFill>
              </a:defRPr>
            </a:pPr>
            <a:r>
              <a:t>Professional Bitcoin Mining Management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Product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Target Users</a:t>
            </a:r>
          </a:p>
          <a:p>
            <a:pPr>
              <a:spcBef>
                <a:spcPts val="400"/>
              </a:spcBef>
              <a:defRPr sz="1400"/>
            </a:pPr>
            <a:r>
              <a:t>  Mining farms, hosting providers, institutional investors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Core Value</a:t>
            </a:r>
          </a:p>
          <a:p>
            <a:pPr>
              <a:spcBef>
                <a:spcPts val="400"/>
              </a:spcBef>
              <a:defRPr sz="1400"/>
            </a:pPr>
            <a:r>
              <a:t>  Data-driven decisions, professional management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Technical Guarantees</a:t>
            </a:r>
          </a:p>
          <a:p>
            <a:pPr>
              <a:spcBef>
                <a:spcPts val="400"/>
              </a:spcBef>
              <a:defRPr sz="1400"/>
            </a:pPr>
            <a:r>
              <a:t>  99.95% SLA, 9.8x performance, enterprise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5 Core Features + Dual-Algorithm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1. Intelligent Mining Calculator</a:t>
            </a:r>
          </a:p>
          <a:p>
            <a:pPr>
              <a:spcBef>
                <a:spcPts val="400"/>
              </a:spcBef>
              <a:defRPr sz="1400"/>
            </a:pPr>
            <a:r>
              <a:t>   Dual-Algorithm Validation: Hashrate-based + Difficulty-based</a:t>
            </a:r>
          </a:p>
          <a:p>
            <a:pPr>
              <a:spcBef>
                <a:spcPts val="400"/>
              </a:spcBef>
              <a:defRPr sz="1400"/>
            </a:pPr>
            <a:r>
              <a:t>   Cross-validation with ±2% tolerance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2. Technical Analysis - 10 signal modules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3. Treasury Management - BTC inventory + strategies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4. CRM - Full lifecycle management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5. Enterprise Security - KMS, mTLS, WireGuard VPN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Enterprise Security &amp;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KMS Key Management - Multi-cloud, AES-256, RSA-4096</a:t>
            </a:r>
          </a:p>
          <a:p>
            <a:pPr>
              <a:spcBef>
                <a:spcPts val="400"/>
              </a:spcBef>
              <a:defRPr sz="1400"/>
            </a:pPr>
            <a:r>
              <a:t>mTLS Authentication - X.509 certificates, CRL/OCSP</a:t>
            </a:r>
          </a:p>
          <a:p>
            <a:pPr>
              <a:spcBef>
                <a:spcPts val="400"/>
              </a:spcBef>
              <a:defRPr sz="1400"/>
            </a:pPr>
            <a:r>
              <a:t>API Key Management - Scoped permissions, rate limiting</a:t>
            </a:r>
          </a:p>
          <a:p>
            <a:pPr>
              <a:spcBef>
                <a:spcPts val="400"/>
              </a:spcBef>
              <a:defRPr sz="1400"/>
            </a:pPr>
            <a:r>
              <a:t>WireGuard VPN - Zero-trust, ChaCha20-Poly1305</a:t>
            </a:r>
          </a:p>
          <a:p>
            <a:pPr>
              <a:spcBef>
                <a:spcPts val="400"/>
              </a:spcBef>
              <a:defRPr sz="1400"/>
            </a:pPr>
            <a:r>
              <a:t>Audit Logging - 7-year retention, tamper-proof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Compliance Status:</a:t>
            </a:r>
          </a:p>
          <a:p>
            <a:pPr>
              <a:spcBef>
                <a:spcPts val="400"/>
              </a:spcBef>
              <a:defRPr sz="1400"/>
            </a:pPr>
            <a:r>
              <a:t>  SOC 2 Type II Ready (Q1 2026 audit scheduled)</a:t>
            </a:r>
          </a:p>
          <a:p>
            <a:pPr>
              <a:spcBef>
                <a:spcPts val="400"/>
              </a:spcBef>
              <a:defRPr sz="1400"/>
            </a:pPr>
            <a:r>
              <a:t>  PCI DSS Compliant (via Stripe)</a:t>
            </a:r>
          </a:p>
          <a:p>
            <a:pPr>
              <a:spcBef>
                <a:spcPts val="400"/>
              </a:spcBef>
              <a:defRPr sz="1400"/>
            </a:pPr>
            <a:r>
              <a:t>  GDPR Fully Compliant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Technical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7680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6096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SLA 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≥99.95%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Error budget ≤21.6 min/month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API Latency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p95 ≤250ms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Fast response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Error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≤0.1%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High reliability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Request Coalescing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Batch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5000+ miners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Concurrent calculation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7680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6096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HashInsight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Foreman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NiceHash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Dual-Algorithm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Batch 5000+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 max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Single only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Treasury Mgmt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SOC 2 Ready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24/7+CSM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Forum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Customer Success: 100MW Farm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Before HashInsight:</a:t>
            </a:r>
          </a:p>
          <a:p>
            <a:pPr>
              <a:spcBef>
                <a:spcPts val="400"/>
              </a:spcBef>
              <a:defRPr sz="1400"/>
            </a:pPr>
            <a:r>
              <a:t>  Calculation: 2 hours/day</a:t>
            </a:r>
          </a:p>
          <a:p>
            <a:pPr>
              <a:spcBef>
                <a:spcPts val="400"/>
              </a:spcBef>
              <a:defRPr sz="1400"/>
            </a:pPr>
            <a:r>
              <a:t>  Manual errors: 12/month</a:t>
            </a:r>
          </a:p>
          <a:p>
            <a:pPr>
              <a:spcBef>
                <a:spcPts val="400"/>
              </a:spcBef>
              <a:defRPr sz="1400"/>
            </a:pPr>
            <a:r>
              <a:t>  Customer complaints: 100/month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After HashInsight:</a:t>
            </a:r>
          </a:p>
          <a:p>
            <a:pPr>
              <a:spcBef>
                <a:spcPts val="400"/>
              </a:spcBef>
              <a:defRPr sz="1400"/>
            </a:pPr>
            <a:r>
              <a:t>  Calculation: 5 minutes (24x faster)</a:t>
            </a:r>
          </a:p>
          <a:p>
            <a:pPr>
              <a:spcBef>
                <a:spcPts val="400"/>
              </a:spcBef>
              <a:defRPr sz="1400"/>
            </a:pPr>
            <a:r>
              <a:t>  Manual errors: 0/month (100% eliminated)</a:t>
            </a:r>
          </a:p>
          <a:p>
            <a:pPr>
              <a:spcBef>
                <a:spcPts val="400"/>
              </a:spcBef>
              <a:defRPr sz="1400"/>
            </a:pPr>
            <a:r>
              <a:t>  Customer complaints: 30/month (70% reduction)</a:t>
            </a:r>
          </a:p>
          <a:p>
            <a:pPr>
              <a:spcBef>
                <a:spcPts val="400"/>
              </a:spcBef>
              <a:defRPr sz="1400"/>
            </a:pPr>
            <a:r>
              <a:t>  Power cost savings: $1.8M/year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ROI: 158x | Payback: 2.3 days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Pricing Plans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7680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9144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ROI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$199/mo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Small-medium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15-20x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$999/mo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Large institutions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50-100x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Custom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Custom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Ultra-large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100-200x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Contact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Business Inquiries</a:t>
            </a:r>
          </a:p>
          <a:p>
            <a:pPr>
              <a:spcBef>
                <a:spcPts val="400"/>
              </a:spcBef>
              <a:defRPr sz="1400"/>
            </a:pPr>
            <a:r>
              <a:t>  sales@hashinsight.io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Technical Support</a:t>
            </a:r>
          </a:p>
          <a:p>
            <a:pPr>
              <a:spcBef>
                <a:spcPts val="400"/>
              </a:spcBef>
              <a:defRPr sz="1400"/>
            </a:pPr>
            <a:r>
              <a:t>  support@hashinsight.io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Official Website</a:t>
            </a:r>
          </a:p>
          <a:p>
            <a:pPr>
              <a:spcBef>
                <a:spcPts val="400"/>
              </a:spcBef>
              <a:defRPr sz="1400"/>
            </a:pPr>
            <a:r>
              <a:t>  https://hashinsight.io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Enterprise Support</a:t>
            </a:r>
          </a:p>
          <a:p>
            <a:pPr>
              <a:spcBef>
                <a:spcPts val="400"/>
              </a:spcBef>
              <a:defRPr sz="1400"/>
            </a:pPr>
            <a:r>
              <a:t>  24/7 hotline, 1-hour response SLA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