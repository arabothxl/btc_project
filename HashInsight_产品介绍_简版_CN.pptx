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HashInsight 比特币挖矿管理平台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39C12"/>
                </a:solidFill>
              </a:defRPr>
            </a:pPr>
            <a:r>
              <a:t>专业 • 安全 • 智能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Rectangle 10"/>
          <p:cNvSpPr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1371600"/>
            <a:ext cx="2560320" cy="54864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C3E50"/>
                </a:solidFill>
              </a:defRPr>
            </a:pPr>
            <a:r>
              <a:t>核心优势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39C12"/>
          </a:solidFill>
          <a:ln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核心功能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2560320" cy="4114800"/>
          </a:xfrm>
          <a:prstGeom prst="rect">
            <a:avLst/>
          </a:prstGeom>
          <a:noFill/>
        </p:spPr>
        <p:txBody>
          <a:bodyPr wrap="square" lIns="127000" rIns="127000">
            <a:spAutoFit/>
          </a:bodyPr>
          <a:lstStyle/>
          <a:p/>
          <a:p>
            <a:pPr>
              <a:spcAft>
                <a:spcPts val="200"/>
              </a:spcAft>
              <a:defRPr sz="1300" b="1">
                <a:solidFill>
                  <a:srgbClr val="34495E"/>
                </a:solidFill>
              </a:defRPr>
            </a:pPr>
            <a:r>
              <a:t>• 智能挖矿计算器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  <a:r>
              <a:t>  （双算法验证，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  <a:r>
              <a:t>   17+矿机型号）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34495E"/>
                </a:solidFill>
              </a:defRPr>
            </a:pPr>
            <a:r>
              <a:t>• 技术分析平台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  <a:r>
              <a:t>  （10个信号模块）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34495E"/>
                </a:solidFill>
              </a:defRPr>
            </a:pPr>
            <a:r>
              <a:t>• 资金管理系统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  <a:r>
              <a:t>  （BTC库存+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  <a:r>
              <a:t>   卖出策略）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34495E"/>
                </a:solidFill>
              </a:defRPr>
            </a:pPr>
            <a:r>
              <a:t>• CRM客户管理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  <a:r>
              <a:t>  （全生命周期）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34495E"/>
                </a:solidFill>
              </a:defRPr>
            </a:pPr>
            <a:r>
              <a:t>• 批量计算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  <a:r>
              <a:t>  （5000+矿机）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3716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安全保障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011680"/>
            <a:ext cx="2560320" cy="4114800"/>
          </a:xfrm>
          <a:prstGeom prst="rect">
            <a:avLst/>
          </a:prstGeom>
          <a:noFill/>
        </p:spPr>
        <p:txBody>
          <a:bodyPr wrap="square" lIns="127000" rIns="127000">
            <a:spAutoFit/>
          </a:bodyPr>
          <a:lstStyle/>
          <a:p/>
          <a:p>
            <a:pPr>
              <a:spcAft>
                <a:spcPts val="200"/>
              </a:spcAft>
              <a:defRPr sz="1300" b="1">
                <a:solidFill>
                  <a:srgbClr val="2980B9"/>
                </a:solidFill>
              </a:defRPr>
            </a:pPr>
            <a:r>
              <a:t>• 企业级加密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  <a:r>
              <a:t>  （KMS密钥管理）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2980B9"/>
                </a:solidFill>
              </a:defRPr>
            </a:pPr>
            <a:r>
              <a:t>• mTLS身份认证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2980B9"/>
                </a:solidFill>
              </a:defRPr>
            </a:pPr>
            <a:r>
              <a:t>• WireGuard VPN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2980B9"/>
                </a:solidFill>
              </a:defRPr>
            </a:pPr>
            <a:r>
              <a:t>• SOC 2合规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  <a:r>
              <a:t>  准备中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2980B9"/>
                </a:solidFill>
              </a:defRPr>
            </a:pPr>
            <a:r>
              <a:t>• 99.95% SLA保证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适用场景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011680"/>
            <a:ext cx="2560320" cy="4114800"/>
          </a:xfrm>
          <a:prstGeom prst="rect">
            <a:avLst/>
          </a:prstGeom>
          <a:noFill/>
        </p:spPr>
        <p:txBody>
          <a:bodyPr wrap="square" lIns="127000" rIns="127000">
            <a:spAutoFit/>
          </a:bodyPr>
          <a:lstStyle/>
          <a:p/>
          <a:p>
            <a:pPr>
              <a:spcAft>
                <a:spcPts val="200"/>
              </a:spcAft>
              <a:defRPr sz="1300" b="1">
                <a:solidFill>
                  <a:srgbClr val="F39C12"/>
                </a:solidFill>
              </a:defRPr>
            </a:pPr>
            <a:r>
              <a:t>• 大型矿场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  <a:r>
              <a:t>  （100MW+，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  <a:r>
              <a:t>   15000+矿机）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F39C12"/>
                </a:solidFill>
              </a:defRPr>
            </a:pPr>
            <a:r>
              <a:t>• 托管服务商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  <a:r>
              <a:t>  （300+客户管理）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F39C12"/>
                </a:solidFill>
              </a:defRPr>
            </a:pPr>
            <a:r>
              <a:t>• 机构投资者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  <a:r>
              <a:t>  （专业资金管理）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</a:p>
          <a:p>
            <a:pPr>
              <a:spcAft>
                <a:spcPts val="200"/>
              </a:spcAft>
              <a:defRPr sz="1300" b="1">
                <a:solidFill>
                  <a:srgbClr val="F39C12"/>
                </a:solidFill>
              </a:defRPr>
            </a:pPr>
            <a:r>
              <a:t>• 矿机经销商</a:t>
            </a:r>
          </a:p>
          <a:p>
            <a:pPr>
              <a:spcAft>
                <a:spcPts val="200"/>
              </a:spcAft>
              <a:defRPr sz="1300">
                <a:solidFill>
                  <a:srgbClr val="505050"/>
                </a:solidFill>
              </a:defRPr>
            </a:pPr>
            <a:r>
              <a:t>  （批量报价）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