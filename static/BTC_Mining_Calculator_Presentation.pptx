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7931A"/>
                </a:solidFill>
              </a:defRPr>
            </a:pPr>
            <a:r>
              <a:t>BTC Mining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Enterprise-Grade Bitcoin Mining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企业级比特币挖矿分析平台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</a:defRPr>
            </a:pPr>
            <a:r>
              <a:t>System Overview | 系统概述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FFFFFF"/>
                </a:solidFill>
              </a:defRPr>
            </a:pPr>
            <a:r>
              <a:t>🎯 Real-time Bitcoin mining profitability analysis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   实时比特币挖矿盈利能力分析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📊 Supports 17+ ASIC miner models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   支持17种以上ASIC矿机型号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🌐 Complete bilingual support (English/Chinese)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   完整中英文双语支持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⛓️ Web3 integration with blockchain transparency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   Web3集成与区块链透明度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</a:defRPr>
            </a:pPr>
            <a:r>
              <a:t>Core Modules |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1. Mining Calculator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挖矿计算器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Dual-algorithm profitability analysis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双算法盈利能力分析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ROI &amp; breakeven calculations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投资回报率与盈亏平衡计算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2. CRM System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CRM客户管理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60+ API endpoints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60+个API接口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Lead &amp; sales funnel management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潜在客户与销售漏斗管理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3. System Monitoring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系统监控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Real-time health checks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实时健康检查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Performance metrics &amp; alerts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性能指标与警报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FFFF"/>
                </a:solidFill>
              </a:defRPr>
            </a:pPr>
            <a:r>
              <a:t>4. Technical Analysis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技术分析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RSI, MACD, Bollinger Bands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RSI、MACD、布林带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Historical price analysis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历史价格分析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5. Hosting Services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托管服务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Miner management &amp; monitoring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矿机管理与监控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Real-time telemetry data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实时遥测数据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6. Web3 Integration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Web3集成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Blockchain verification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区块链验证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• SLA NFT certificates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  SLA NFT证书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</a:defRPr>
            </a:pPr>
            <a:r>
              <a:t>Technical Architecture |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7931A"/>
                </a:solidFill>
              </a:defRPr>
            </a:pPr>
            <a:r>
              <a:t>Backend | 后端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Flask + SQLAlchemy + PostgreSQL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Redis for caching &amp; task queuing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RESTful API architecture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200" b="1">
                <a:solidFill>
                  <a:srgbClr val="F7931A"/>
                </a:solidFill>
              </a:defRPr>
            </a:pPr>
            <a:r>
              <a:t>Frontend | 前端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Jinja2 + Bootstrap 5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Chart.js for data visualization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Responsive mobile-first design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200" b="1">
                <a:solidFill>
                  <a:srgbClr val="F7931A"/>
                </a:solidFill>
              </a:defRPr>
            </a:pPr>
            <a:r>
              <a:t>Data Integration | 数据集成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Multi-exchange API integration (Binance, OKX, Deribit, Bybit)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Intelligent fallback &amp; SWR caching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</a:defRPr>
            </a:pPr>
            <a:r>
              <a:t>Web3 &amp; Blockchain Integration | Web3与区块链集成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F7931A"/>
                </a:solidFill>
              </a:defRPr>
            </a:pPr>
            <a:r>
              <a:t>🔗 Blockchain Transparency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Data verification on Base L2 network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IPFS distributed storage via Pinata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Immutable audit trail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400" b="1">
                <a:solidFill>
                  <a:srgbClr val="F7931A"/>
                </a:solidFill>
              </a:defRPr>
            </a:pPr>
            <a:r>
              <a:t>🎫 SLA NFT Certificates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Automated SLA compliance minting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On-chain performance guarantees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Transparent hosting accountability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400" b="1">
                <a:solidFill>
                  <a:srgbClr val="F7931A"/>
                </a:solidFill>
              </a:defRPr>
            </a:pPr>
            <a:r>
              <a:t>🔐 Secure Configuration Wizard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MetaMask wallet integration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Environment-based secrets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</a:defRPr>
            </a:pPr>
            <a:r>
              <a:t>Hosting Services | 托管服务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7931A"/>
                </a:solidFill>
              </a:defRPr>
            </a:pPr>
            <a:r>
              <a:t>⛏️ Miner Management | 矿机管理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Single &amp; batch miner registration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Approval workflow for customer submissions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Serial number tracking &amp; inventory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200" b="1">
                <a:solidFill>
                  <a:srgbClr val="F7931A"/>
                </a:solidFill>
              </a:defRPr>
            </a:pPr>
            <a:r>
              <a:t>📊 Real-Time Monitoring | 实时监控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Hashrate &amp; power consumption tracking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Temperature &amp; fan speed telemetry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Mining pool statistics (shares, workers)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200" b="1">
                <a:solidFill>
                  <a:srgbClr val="F7931A"/>
                </a:solidFill>
              </a:defRPr>
            </a:pPr>
            <a:r>
              <a:t>🏢 Site Management | 站点管理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Multi-site capacity tracking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Incident &amp; ticket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</a:defRPr>
            </a:pPr>
            <a:r>
              <a:t>Data &amp; Analytics | 数据与分析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7931A"/>
                </a:solidFill>
              </a:defRPr>
            </a:pPr>
            <a:r>
              <a:t>📈 Market Data Collection | 市场数据收集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4 major exchanges with 100% data completeness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Network hashrate &amp; difficulty tracking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Automated every 15 minutes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200" b="1">
                <a:solidFill>
                  <a:srgbClr val="F7931A"/>
                </a:solidFill>
              </a:defRPr>
            </a:pPr>
            <a:r>
              <a:t>🧠 Intelligence Layer | 智能分析层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Predictive analytics with XGBoost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Anomaly detection algorithms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Power optimization recommendations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200" b="1">
                <a:solidFill>
                  <a:srgbClr val="F7931A"/>
                </a:solidFill>
              </a:defRPr>
            </a:pPr>
            <a:r>
              <a:t>📊 Technical Indicators | 技术指标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RSI, MACD, SMA, EMA, Bollinger Bands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</a:defRPr>
            </a:pPr>
            <a:r>
              <a:t>Security Features | 安全特性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7931A"/>
                </a:solidFill>
              </a:defRPr>
            </a:pPr>
            <a:r>
              <a:t>🔐 Authentication &amp; Authorization | 认证与授权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Custom email-based authentication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Role-based access control (RBAC)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Session management with secure tokens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200" b="1">
                <a:solidFill>
                  <a:srgbClr val="F7931A"/>
                </a:solidFill>
              </a:defRPr>
            </a:pPr>
            <a:r>
              <a:t>🛡️ Data Protection | 数据保护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AES encryption for sensitive data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Secure password hashing (Werkzeug)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Environment-based secrets (Replit Secrets)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200" b="1">
                <a:solidFill>
                  <a:srgbClr val="F7931A"/>
                </a:solidFill>
              </a:defRPr>
            </a:pPr>
            <a:r>
              <a:t>⛓️ Blockchain Security | 区块链安全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• MetaMask integration (no key sharing)</a:t>
            </a:r>
          </a:p>
          <a:p>
            <a:pPr>
              <a:defRPr sz="1600" b="0">
                <a:solidFill>
                  <a:srgbClr val="C8C8C8"/>
                </a:solidFill>
              </a:defRPr>
            </a:pPr>
            <a:r>
              <a:t>• Testnet-first development approach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</a:defRPr>
            </a:pPr>
            <a:r>
              <a:t>Key Highlights | 系统亮点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7931A"/>
                </a:solidFill>
              </a:defRPr>
            </a:pPr>
            <a:r>
              <a:t>📊 Scale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17+ miner models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60+ API endpoints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56+ KPI cards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42+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7931A"/>
                </a:solidFill>
              </a:defRPr>
            </a:pPr>
            <a:r>
              <a:t>⚡ Performance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Real-time updates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Redis caching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Optimized queries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Auto-scaling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7931A"/>
                </a:solidFill>
              </a:defRPr>
            </a:pPr>
            <a:r>
              <a:t>🌐 Integration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4 exchanges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Web3 blockchain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IPFS storage</a:t>
            </a:r>
          </a:p>
          <a:p>
            <a:pPr>
              <a:defRPr sz="1600" b="0">
                <a:solidFill>
                  <a:srgbClr val="FFFFFF"/>
                </a:solidFill>
              </a:defRPr>
            </a:pPr>
            <a:r>
              <a:t>• NFT minting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931A"/>
                </a:solidFill>
              </a:defRPr>
            </a:pPr>
            <a:r>
              <a:t>Summary |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FFFFFF"/>
                </a:solidFill>
              </a:defRPr>
            </a:pPr>
            <a:r>
              <a:t>✅ Comprehensive Bitcoin mining analytics platform</a:t>
            </a:r>
          </a:p>
          <a:p>
            <a:pPr>
              <a:defRPr sz="1800" b="0">
                <a:solidFill>
                  <a:srgbClr val="C8C8C8"/>
                </a:solidFill>
              </a:defRPr>
            </a:pPr>
            <a:r>
              <a:t>   全面的比特币挖矿分析平台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✅ Enterprise-ready with robust architecture</a:t>
            </a:r>
          </a:p>
          <a:p>
            <a:pPr>
              <a:defRPr sz="1800" b="0">
                <a:solidFill>
                  <a:srgbClr val="C8C8C8"/>
                </a:solidFill>
              </a:defRPr>
            </a:pPr>
            <a:r>
              <a:t>   企业级架构，稳定可靠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✅ Web3-enabled transparency and accountability</a:t>
            </a:r>
          </a:p>
          <a:p>
            <a:pPr>
              <a:defRPr sz="1800" b="0">
                <a:solidFill>
                  <a:srgbClr val="C8C8C8"/>
                </a:solidFill>
              </a:defRPr>
            </a:pPr>
            <a:r>
              <a:t>   Web3驱动的透明度与问责制</a:t>
            </a:r>
          </a:p>
          <a:p>
            <a:pPr>
              <a:defRPr sz="1000" b="0">
                <a:solidFill>
                  <a:srgbClr val="FFFFFF"/>
                </a:solidFill>
              </a:defRPr>
            </a:pP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✅ Real-time monitoring and intelligent insights</a:t>
            </a:r>
          </a:p>
          <a:p>
            <a:pPr>
              <a:defRPr sz="1800" b="0">
                <a:solidFill>
                  <a:srgbClr val="C8C8C8"/>
                </a:solidFill>
              </a:defRPr>
            </a:pPr>
            <a:r>
              <a:t>   实时监控与智能洞察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7931A"/>
                </a:solidFill>
              </a:defRPr>
            </a:pPr>
            <a:r>
              <a:t>Thank You</a:t>
            </a:r>
          </a:p>
          <a:p>
            <a:pPr algn="ctr">
              <a:defRPr sz="4800" b="1">
                <a:solidFill>
                  <a:srgbClr val="F7931A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BTC Mining Calculator Platform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Enterprise-Grade Mining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